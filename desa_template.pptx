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nton" pitchFamily="2" charset="77"/>
      <p:regular r:id="rId14"/>
    </p:embeddedFont>
    <p:embeddedFont>
      <p:font typeface="Arial MT Pro" panose="020B0703030403020204" pitchFamily="34" charset="77"/>
      <p:regular r:id="rId15"/>
      <p:bold r:id="rId16"/>
      <p:italic r:id="rId17"/>
    </p:embeddedFont>
    <p:embeddedFont>
      <p:font typeface="Arial MT Pro Bold" panose="020B0703030403020204" pitchFamily="34" charset="77"/>
      <p:regular r:id="rId18"/>
      <p:bold r:id="rId19"/>
      <p:italic r:id="rId20"/>
      <p:boldItalic r:id="rId21"/>
    </p:embeddedFont>
    <p:embeddedFont>
      <p:font typeface="Blaka" pitchFamily="2" charset="-78"/>
      <p:regular r:id="rId22"/>
    </p:embeddedFont>
    <p:embeddedFont>
      <p:font typeface="Canva Sans Bold" panose="020B0803030501040103" pitchFamily="34" charset="0"/>
      <p:regular r:id="rId23"/>
      <p:bold r:id="rId24"/>
    </p:embeddedFont>
    <p:embeddedFont>
      <p:font typeface="Obra Letra" pitchFamily="2" charset="0"/>
      <p:regular r:id="rId25"/>
    </p:embeddedFont>
    <p:embeddedFont>
      <p:font typeface="Poppins" pitchFamily="2" charset="77"/>
      <p:regular r:id="rId26"/>
      <p:bold r:id="rId27"/>
      <p:italic r:id="rId28"/>
      <p:boldItalic r:id="rId29"/>
    </p:embeddedFont>
    <p:embeddedFont>
      <p:font typeface="Poppins Bold" pitchFamily="2" charset="77"/>
      <p:regular r:id="rId30"/>
      <p:bold r:id="rId31"/>
    </p:embeddedFont>
    <p:embeddedFont>
      <p:font typeface="Poppins Italics" pitchFamily="2" charset="77"/>
      <p:regular r:id="rId32"/>
      <p: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3" autoAdjust="0"/>
    <p:restoredTop sz="94364" autoAdjust="0"/>
  </p:normalViewPr>
  <p:slideViewPr>
    <p:cSldViewPr>
      <p:cViewPr>
        <p:scale>
          <a:sx n="41" d="100"/>
          <a:sy n="41" d="100"/>
        </p:scale>
        <p:origin x="-496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37155" y="5059607"/>
            <a:ext cx="8300211" cy="35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6"/>
              </a:lnSpc>
              <a:spcBef>
                <a:spcPct val="0"/>
              </a:spcBef>
            </a:pPr>
            <a:r>
              <a:rPr lang="en-US" sz="2161" b="1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{{title}}</a:t>
            </a:r>
          </a:p>
        </p:txBody>
      </p:sp>
      <p:sp>
        <p:nvSpPr>
          <p:cNvPr id="3" name="Freeform 3"/>
          <p:cNvSpPr/>
          <p:nvPr/>
        </p:nvSpPr>
        <p:spPr>
          <a:xfrm>
            <a:off x="8391280" y="224842"/>
            <a:ext cx="1762899" cy="1676400"/>
          </a:xfrm>
          <a:custGeom>
            <a:avLst/>
            <a:gdLst/>
            <a:ahLst/>
            <a:cxnLst/>
            <a:rect l="l" t="t" r="r" b="b"/>
            <a:pathLst>
              <a:path w="1477068" h="1477068">
                <a:moveTo>
                  <a:pt x="0" y="0"/>
                </a:moveTo>
                <a:lnTo>
                  <a:pt x="1477068" y="0"/>
                </a:lnTo>
                <a:lnTo>
                  <a:pt x="1477068" y="1477068"/>
                </a:lnTo>
                <a:lnTo>
                  <a:pt x="0" y="147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000770" y="7249874"/>
            <a:ext cx="2553994" cy="2610749"/>
          </a:xfrm>
          <a:custGeom>
            <a:avLst/>
            <a:gdLst/>
            <a:ahLst/>
            <a:cxnLst/>
            <a:rect l="l" t="t" r="r" b="b"/>
            <a:pathLst>
              <a:path w="2553994" h="2610749">
                <a:moveTo>
                  <a:pt x="0" y="0"/>
                </a:moveTo>
                <a:lnTo>
                  <a:pt x="2553993" y="0"/>
                </a:lnTo>
                <a:lnTo>
                  <a:pt x="2553993" y="2610749"/>
                </a:lnTo>
                <a:lnTo>
                  <a:pt x="0" y="2610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42314" y="5429160"/>
            <a:ext cx="1291311" cy="1473666"/>
          </a:xfrm>
          <a:custGeom>
            <a:avLst/>
            <a:gdLst/>
            <a:ahLst/>
            <a:cxnLst/>
            <a:rect l="l" t="t" r="r" b="b"/>
            <a:pathLst>
              <a:path w="1291311" h="1473666">
                <a:moveTo>
                  <a:pt x="0" y="0"/>
                </a:moveTo>
                <a:lnTo>
                  <a:pt x="1291311" y="0"/>
                </a:lnTo>
                <a:lnTo>
                  <a:pt x="1291311" y="1473666"/>
                </a:lnTo>
                <a:lnTo>
                  <a:pt x="0" y="147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9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96499" y="8832514"/>
            <a:ext cx="10457631" cy="78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8"/>
              </a:lnSpc>
            </a:pPr>
            <a:r>
              <a:rPr lang="en-US" sz="22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SCHOOL GOVERNANCE AND OPERATIONS DIVISION (SGOD) </a:t>
            </a:r>
          </a:p>
          <a:p>
            <a:pPr algn="ctr">
              <a:lnSpc>
                <a:spcPts val="3118"/>
              </a:lnSpc>
            </a:pPr>
            <a:r>
              <a:rPr lang="en-US" sz="2227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School Management, Monitoring and Evaluation (SMME) Section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16310" y="3109317"/>
            <a:ext cx="7512841" cy="1551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21"/>
              </a:lnSpc>
            </a:pPr>
            <a:r>
              <a:rPr lang="en-US" sz="7200" dirty="0">
                <a:solidFill>
                  <a:srgbClr val="000000"/>
                </a:solidFill>
                <a:latin typeface="Obra Letra"/>
                <a:ea typeface="Obra Letra"/>
                <a:cs typeface="Obra Letra"/>
                <a:sym typeface="Obra Letra"/>
              </a:rPr>
              <a:t>QAME RESULT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67230" y="1914083"/>
            <a:ext cx="11811000" cy="1169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ea typeface="Obra Letra"/>
                <a:cs typeface="Obra Letra"/>
                <a:sym typeface="Obra Letra"/>
              </a:rPr>
              <a:t>Republic of the Philippines</a:t>
            </a:r>
          </a:p>
          <a:p>
            <a:pPr algn="ctr"/>
            <a:r>
              <a:rPr lang="en-US" sz="2800" dirty="0">
                <a:solidFill>
                  <a:srgbClr val="000000"/>
                </a:solidFill>
                <a:ea typeface="Blaka"/>
                <a:cs typeface="Blaka"/>
                <a:sym typeface="Blaka"/>
              </a:rPr>
              <a:t>Department of Education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ea typeface="Obra Letra"/>
                <a:cs typeface="Obra Letra"/>
                <a:sym typeface="Obra Letra"/>
              </a:rPr>
              <a:t>Region V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ea typeface="Obra Letra"/>
                <a:cs typeface="Obra Letra"/>
                <a:sym typeface="Obra Letra"/>
              </a:rPr>
              <a:t>Schools Division of Masbate City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78841" y="5025150"/>
            <a:ext cx="2635316" cy="39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Title of Training: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542314" y="3858595"/>
            <a:ext cx="1433973" cy="1399302"/>
          </a:xfrm>
          <a:custGeom>
            <a:avLst/>
            <a:gdLst/>
            <a:ahLst/>
            <a:cxnLst/>
            <a:rect l="l" t="t" r="r" b="b"/>
            <a:pathLst>
              <a:path w="1433973" h="1399302">
                <a:moveTo>
                  <a:pt x="0" y="0"/>
                </a:moveTo>
                <a:lnTo>
                  <a:pt x="1433972" y="0"/>
                </a:lnTo>
                <a:lnTo>
                  <a:pt x="1433972" y="1399302"/>
                </a:lnTo>
                <a:lnTo>
                  <a:pt x="0" y="1399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85" r="-92531" b="-11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420788" y="5924541"/>
            <a:ext cx="2635316" cy="39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Date Conducted: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38446" y="6670079"/>
            <a:ext cx="1317658" cy="39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Venue: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37155" y="5859076"/>
            <a:ext cx="8090758" cy="37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263" b="1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{{date}}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7155" y="6695267"/>
            <a:ext cx="8090758" cy="37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263" b="1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{{venue}}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20788" y="7280460"/>
            <a:ext cx="2635316" cy="39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22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Owner: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37155" y="7309035"/>
            <a:ext cx="8090758" cy="37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263" b="1">
                <a:solidFill>
                  <a:srgbClr val="1E3CC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{{program_owner}}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89195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987918"/>
              </p:ext>
            </p:extLst>
          </p:nvPr>
        </p:nvGraphicFramePr>
        <p:xfrm>
          <a:off x="1904999" y="2400299"/>
          <a:ext cx="14551251" cy="5980764"/>
        </p:xfrm>
        <a:graphic>
          <a:graphicData uri="http://schemas.openxmlformats.org/drawingml/2006/table">
            <a:tbl>
              <a:tblPr/>
              <a:tblGrid>
                <a:gridCol w="804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2992" b="1" spc="-146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program_management</a:t>
                      </a: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ACCOMMODATION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{{accommodation}}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TRAINING VENUE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2992" b="1" spc="-146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training_venue</a:t>
                      </a: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dirty="0">
                          <a:solidFill>
                            <a:srgbClr val="000000"/>
                          </a:solidFill>
                          <a:latin typeface="Arial MT Pro"/>
                          <a:sym typeface="Arial MT Pro"/>
                        </a:rPr>
                        <a:t>FOOD/MEALS/SNACKS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{{food}}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307">
                <a:tc>
                  <a:txBody>
                    <a:bodyPr/>
                    <a:lstStyle/>
                    <a:p>
                      <a:pPr algn="ctr">
                        <a:lnSpc>
                          <a:spcPts val="3082"/>
                        </a:lnSpc>
                        <a:defRPr/>
                      </a:pPr>
                      <a:r>
                        <a:rPr lang="en-US" sz="2992" dirty="0">
                          <a:solidFill>
                            <a:srgbClr val="000000"/>
                          </a:solidFill>
                          <a:latin typeface="Arial MT Pro"/>
                          <a:sym typeface="Arial MT Pro"/>
                        </a:rPr>
                        <a:t>ADMINISTRATIVE ARRANGEMENTS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2992" b="1" spc="-146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administrative_arrangements</a:t>
                      </a:r>
                      <a:r>
                        <a:rPr lang="en-US" sz="2992" b="1" spc="-146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6922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95"/>
                        </a:lnSpc>
                        <a:defRPr/>
                      </a:pPr>
                      <a:r>
                        <a:rPr lang="en-US" sz="3672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3672" b="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overall_daily_average</a:t>
                      </a:r>
                      <a:r>
                        <a:rPr lang="en-US" sz="3672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034573" y="9701611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42600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875585" y="857250"/>
            <a:ext cx="12580666" cy="82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DAILY EVALUATION RESULTS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06858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56436" y="640902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11257"/>
              </p:ext>
            </p:extLst>
          </p:nvPr>
        </p:nvGraphicFramePr>
        <p:xfrm>
          <a:off x="1106011" y="2414197"/>
          <a:ext cx="15886589" cy="6145654"/>
        </p:xfrm>
        <a:graphic>
          <a:graphicData uri="http://schemas.openxmlformats.org/drawingml/2006/table">
            <a:tbl>
              <a:tblPr/>
              <a:tblGrid>
                <a:gridCol w="8513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421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8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{{program_management1}}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Attainment of Objectives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{{attainment_of_objectives}}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Delivery of Content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2312" b="1" spc="-113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delivery_of_content</a:t>
                      </a: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5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Provision of Support Materials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{{provision_of_support_materials}}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8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Program Management Team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2312" b="1" spc="-113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program_management_team</a:t>
                      </a: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08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Training Venue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{{training_venue1}}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08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Food/Meal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{{food1}}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08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Accommodation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{{accommodation1}}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5675629"/>
                  </a:ext>
                </a:extLst>
              </a:tr>
              <a:tr h="620544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3264" b="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end_of_program_average</a:t>
                      </a:r>
                      <a:r>
                        <a:rPr lang="en-US" sz="3264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106011" y="9653986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09" y="0"/>
                </a:lnTo>
                <a:lnTo>
                  <a:pt x="4077909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471162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652722" y="963336"/>
            <a:ext cx="12982556" cy="82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END-OF-PROGRAM EVALUATION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35420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1570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68207" y="864425"/>
            <a:ext cx="6512670" cy="11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1</a:t>
            </a:r>
          </a:p>
        </p:txBody>
      </p:sp>
      <p:sp>
        <p:nvSpPr>
          <p:cNvPr id="4" name="Freeform 4"/>
          <p:cNvSpPr/>
          <p:nvPr/>
        </p:nvSpPr>
        <p:spPr>
          <a:xfrm>
            <a:off x="1082198" y="9630173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494975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659233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267790"/>
              </p:ext>
            </p:extLst>
          </p:nvPr>
        </p:nvGraphicFramePr>
        <p:xfrm>
          <a:off x="1788596" y="2149068"/>
          <a:ext cx="14620031" cy="6531299"/>
        </p:xfrm>
        <a:graphic>
          <a:graphicData uri="http://schemas.openxmlformats.org/drawingml/2006/table">
            <a:tbl>
              <a:tblPr/>
              <a:tblGrid>
                <a:gridCol w="9221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7694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721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{{day1_lm1}}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721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721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6721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6721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dirty="0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{{day1_lm5}}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74883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01519" y="864425"/>
            <a:ext cx="6512670" cy="11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2</a:t>
            </a:r>
          </a:p>
        </p:txBody>
      </p:sp>
      <p:sp>
        <p:nvSpPr>
          <p:cNvPr id="4" name="Freeform 4"/>
          <p:cNvSpPr/>
          <p:nvPr/>
        </p:nvSpPr>
        <p:spPr>
          <a:xfrm>
            <a:off x="1248886" y="9701611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09" y="0"/>
                </a:lnTo>
                <a:lnTo>
                  <a:pt x="4077909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328287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492545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056573" y="2149068"/>
          <a:ext cx="14185366" cy="6074935"/>
        </p:xfrm>
        <a:graphic>
          <a:graphicData uri="http://schemas.openxmlformats.org/drawingml/2006/table">
            <a:tbl>
              <a:tblPr/>
              <a:tblGrid>
                <a:gridCol w="894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0200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294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{{day2_lm5}}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1029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887665" y="864425"/>
            <a:ext cx="6512670" cy="11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3</a:t>
            </a:r>
          </a:p>
        </p:txBody>
      </p:sp>
      <p:sp>
        <p:nvSpPr>
          <p:cNvPr id="4" name="Freeform 4"/>
          <p:cNvSpPr/>
          <p:nvPr/>
        </p:nvSpPr>
        <p:spPr>
          <a:xfrm>
            <a:off x="1687531" y="9725423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814433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3978691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880791" y="2149068"/>
          <a:ext cx="14453973" cy="6405533"/>
        </p:xfrm>
        <a:graphic>
          <a:graphicData uri="http://schemas.openxmlformats.org/drawingml/2006/table">
            <a:tbl>
              <a:tblPr/>
              <a:tblGrid>
                <a:gridCol w="911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6584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081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71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71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71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717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{{day3_lm1}}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41570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568207" y="864425"/>
            <a:ext cx="6512670" cy="11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4</a:t>
            </a:r>
          </a:p>
        </p:txBody>
      </p:sp>
      <p:sp>
        <p:nvSpPr>
          <p:cNvPr id="4" name="Freeform 4"/>
          <p:cNvSpPr/>
          <p:nvPr/>
        </p:nvSpPr>
        <p:spPr>
          <a:xfrm>
            <a:off x="1082198" y="9558736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494975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659233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788596" y="2149068"/>
          <a:ext cx="14620031" cy="5978343"/>
        </p:xfrm>
        <a:graphic>
          <a:graphicData uri="http://schemas.openxmlformats.org/drawingml/2006/table">
            <a:tbl>
              <a:tblPr/>
              <a:tblGrid>
                <a:gridCol w="9221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8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1753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318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318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318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318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7318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{{day4_lm5}}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60633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87269" y="864425"/>
            <a:ext cx="6512670" cy="1161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SESSION EVALUATION</a:t>
            </a:r>
          </a:p>
          <a:p>
            <a:pPr algn="ctr">
              <a:lnSpc>
                <a:spcPts val="4091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DAY 5</a:t>
            </a:r>
          </a:p>
        </p:txBody>
      </p:sp>
      <p:sp>
        <p:nvSpPr>
          <p:cNvPr id="4" name="Freeform 4"/>
          <p:cNvSpPr/>
          <p:nvPr/>
        </p:nvSpPr>
        <p:spPr>
          <a:xfrm>
            <a:off x="963136" y="9677798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09" y="0"/>
                </a:lnTo>
                <a:lnTo>
                  <a:pt x="4077909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614037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4778295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883510" y="2149068"/>
          <a:ext cx="14644179" cy="5726259"/>
        </p:xfrm>
        <a:graphic>
          <a:graphicData uri="http://schemas.openxmlformats.org/drawingml/2006/table">
            <a:tbl>
              <a:tblPr/>
              <a:tblGrid>
                <a:gridCol w="9236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3609"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 spc="54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3"/>
                        </a:lnSpc>
                        <a:defRPr/>
                      </a:pPr>
                      <a:r>
                        <a:rPr lang="en-US" sz="2992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530">
                <a:tc>
                  <a:txBody>
                    <a:bodyPr/>
                    <a:lstStyle/>
                    <a:p>
                      <a:pPr algn="ctr">
                        <a:lnSpc>
                          <a:spcPts val="238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1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{{day5_lm1}}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53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2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{{day5_lm2}}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53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3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{{day5_lm3}}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53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4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{{day5_lm4}}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6530"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Session 5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1"/>
                        </a:lnSpc>
                        <a:defRPr/>
                      </a:pPr>
                      <a:r>
                        <a:rPr lang="en-US" sz="2312" b="1" spc="-113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{{day5_lm5}}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1029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90528" y="933566"/>
            <a:ext cx="12938085" cy="720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OBSERVATIONS/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79219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1687531" y="9725423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14433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64372" y="2114059"/>
            <a:ext cx="3272640" cy="739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435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3287" y="3285143"/>
            <a:ext cx="15239055" cy="40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44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{{analysis}}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1029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0" y="0"/>
                </a:lnTo>
                <a:lnTo>
                  <a:pt x="8958530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443902" y="970892"/>
            <a:ext cx="13603126" cy="720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OBSERVATIONS/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79219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1687531" y="9725423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14433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988246" y="2220123"/>
            <a:ext cx="3266921" cy="730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94"/>
              </a:lnSpc>
            </a:pPr>
            <a:r>
              <a:rPr lang="en-US" sz="435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98588" y="3213433"/>
            <a:ext cx="15293755" cy="40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244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{{recommendation}}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3008" y="564695"/>
            <a:ext cx="8958531" cy="9157609"/>
          </a:xfrm>
          <a:custGeom>
            <a:avLst/>
            <a:gdLst/>
            <a:ahLst/>
            <a:cxnLst/>
            <a:rect l="l" t="t" r="r" b="b"/>
            <a:pathLst>
              <a:path w="8958531" h="9157609">
                <a:moveTo>
                  <a:pt x="0" y="0"/>
                </a:moveTo>
                <a:lnTo>
                  <a:pt x="8958531" y="0"/>
                </a:lnTo>
                <a:lnTo>
                  <a:pt x="8958531" y="9157610"/>
                </a:lnTo>
                <a:lnTo>
                  <a:pt x="0" y="915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987906" y="1872233"/>
          <a:ext cx="14492159" cy="5907444"/>
        </p:xfrm>
        <a:graphic>
          <a:graphicData uri="http://schemas.openxmlformats.org/drawingml/2006/table">
            <a:tbl>
              <a:tblPr/>
              <a:tblGrid>
                <a:gridCol w="7428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3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3749"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 spc="597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INDICATORS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749">
                <a:tc>
                  <a:txBody>
                    <a:bodyPr/>
                    <a:lstStyle/>
                    <a:p>
                      <a:pPr algn="ctr">
                        <a:lnSpc>
                          <a:spcPts val="3362"/>
                        </a:lnSpc>
                        <a:defRPr/>
                      </a:pPr>
                      <a:r>
                        <a:rPr lang="en-US" sz="3264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DAILY EVALUATION RESULTS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 spc="-15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{{daily_general_average}}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749"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>
                          <a:solidFill>
                            <a:srgbClr val="000000"/>
                          </a:solidFill>
                          <a:latin typeface="Arial MT Pro"/>
                          <a:ea typeface="Arial MT Pro"/>
                          <a:cs typeface="Arial MT Pro"/>
                          <a:sym typeface="Arial MT Pro"/>
                        </a:rPr>
                        <a:t>END-OF-PROGRAM RESULTS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 spc="-15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{{end_of_program_average}}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6197">
                <a:tc>
                  <a:txBody>
                    <a:bodyPr/>
                    <a:lstStyle/>
                    <a:p>
                      <a:pPr algn="ctr">
                        <a:lnSpc>
                          <a:spcPts val="2840"/>
                        </a:lnSpc>
                        <a:defRPr/>
                      </a:pPr>
                      <a:r>
                        <a:rPr lang="en-US" sz="3264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 RATING</a:t>
                      </a:r>
                      <a:endParaRPr lang="en-US" sz="110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78"/>
                        </a:lnSpc>
                        <a:defRPr/>
                      </a:pPr>
                      <a:r>
                        <a:rPr lang="en-US" sz="5033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{{</a:t>
                      </a:r>
                      <a:r>
                        <a:rPr lang="en-US" sz="5033" b="1" dirty="0" err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overall_results</a:t>
                      </a:r>
                      <a:r>
                        <a:rPr lang="en-US" sz="5033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}}</a:t>
                      </a:r>
                      <a:endParaRPr lang="en-US" sz="1100" dirty="0"/>
                    </a:p>
                  </a:txBody>
                  <a:tcPr marL="154781" marR="154781" marT="154781" marB="154781" anchor="ctr">
                    <a:lnL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9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010761" y="9653986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09" y="0"/>
                </a:lnTo>
                <a:lnTo>
                  <a:pt x="4077909" y="561576"/>
                </a:lnTo>
                <a:lnTo>
                  <a:pt x="0" y="561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566412" y="0"/>
            <a:ext cx="4077910" cy="561577"/>
          </a:xfrm>
          <a:custGeom>
            <a:avLst/>
            <a:gdLst/>
            <a:ahLst/>
            <a:cxnLst/>
            <a:rect l="l" t="t" r="r" b="b"/>
            <a:pathLst>
              <a:path w="4077910" h="561577">
                <a:moveTo>
                  <a:pt x="0" y="0"/>
                </a:moveTo>
                <a:lnTo>
                  <a:pt x="4077910" y="0"/>
                </a:lnTo>
                <a:lnTo>
                  <a:pt x="4077910" y="561577"/>
                </a:lnTo>
                <a:lnTo>
                  <a:pt x="0" y="561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517420" y="857250"/>
            <a:ext cx="6512670" cy="825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sz="435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OVERALL RATING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30670" y="9574365"/>
            <a:ext cx="1749394" cy="264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8">
                <a:solidFill>
                  <a:srgbClr val="1E3CCA"/>
                </a:solidFill>
                <a:latin typeface="Anton"/>
                <a:ea typeface="Anton"/>
                <a:cs typeface="Anton"/>
                <a:sym typeface="Anton"/>
              </a:rPr>
              <a:t>QAME Results | FY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" y="2160359"/>
            <a:ext cx="1825752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85"/>
              </a:lnSpc>
            </a:pPr>
            <a:r>
              <a:rPr lang="en-US" sz="13800" b="1" dirty="0">
                <a:solidFill>
                  <a:srgbClr val="0070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</a:t>
            </a:r>
            <a:r>
              <a:rPr lang="en-US" sz="13800" b="1" dirty="0" err="1">
                <a:solidFill>
                  <a:srgbClr val="0070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overall_results</a:t>
            </a:r>
            <a:r>
              <a:rPr lang="en-US" sz="13800" b="1" dirty="0">
                <a:solidFill>
                  <a:srgbClr val="0070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}}</a:t>
            </a:r>
            <a:endParaRPr lang="en-US" sz="8800" dirty="0">
              <a:solidFill>
                <a:srgbClr val="1E3CCA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90738" y="4801678"/>
            <a:ext cx="7284805" cy="80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9"/>
              </a:lnSpc>
            </a:pPr>
            <a:r>
              <a:rPr lang="en-US" sz="465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OUT OF 4 AS THE HIGHEST SCORE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31111" y="6120322"/>
            <a:ext cx="12719494" cy="233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31"/>
              </a:lnSpc>
            </a:pPr>
            <a:r>
              <a:rPr lang="en-US" sz="1366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“OUTSTANDING”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509</Words>
  <Application>Microsoft Macintosh PowerPoint</Application>
  <PresentationFormat>Custom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Poppins Bold</vt:lpstr>
      <vt:lpstr>Blaka</vt:lpstr>
      <vt:lpstr>Arial MT Pro Bold</vt:lpstr>
      <vt:lpstr>Anton</vt:lpstr>
      <vt:lpstr>Arial</vt:lpstr>
      <vt:lpstr>Poppins</vt:lpstr>
      <vt:lpstr>Canva Sans Bold</vt:lpstr>
      <vt:lpstr>Arial MT Pro</vt:lpstr>
      <vt:lpstr>Poppins Italics</vt:lpstr>
      <vt:lpstr>Calibri</vt:lpstr>
      <vt:lpstr>Obra Letra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desa_template.pptx</dc:title>
  <cp:lastModifiedBy>Samson Capinig</cp:lastModifiedBy>
  <cp:revision>4</cp:revision>
  <dcterms:created xsi:type="dcterms:W3CDTF">2006-08-16T00:00:00Z</dcterms:created>
  <dcterms:modified xsi:type="dcterms:W3CDTF">2026-06-09T05:27:26Z</dcterms:modified>
  <dc:identifier>DAHLAWPriWU</dc:identifier>
</cp:coreProperties>
</file>