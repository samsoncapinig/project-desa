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0680700" cy="7556500"/>
  <p:notesSz cx="6858000" cy="9144000"/>
  <p:embeddedFontLst>
    <p:embeddedFont>
      <p:font typeface="Anton" pitchFamily="2" charset="77"/>
      <p:regular r:id="rId14"/>
    </p:embeddedFont>
    <p:embeddedFont>
      <p:font typeface="Arial MT Pro" panose="020B0703030403020204" pitchFamily="34" charset="77"/>
      <p:regular r:id="rId15"/>
      <p:bold r:id="rId16"/>
      <p:italic r:id="rId17"/>
    </p:embeddedFont>
    <p:embeddedFont>
      <p:font typeface="Canva Sans Bold" panose="020B0803030501040103" pitchFamily="34" charset="0"/>
      <p:regular r:id="rId18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98" autoAdjust="0"/>
    <p:restoredTop sz="94545" autoAdjust="0"/>
  </p:normalViewPr>
  <p:slideViewPr>
    <p:cSldViewPr>
      <p:cViewPr varScale="1">
        <p:scale>
          <a:sx n="80" d="100"/>
          <a:sy n="80" d="100"/>
        </p:scale>
        <p:origin x="872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955910" y="3973732"/>
            <a:ext cx="5625794" cy="226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5"/>
              </a:lnSpc>
              <a:spcBef>
                <a:spcPct val="0"/>
              </a:spcBef>
            </a:pPr>
            <a:r>
              <a:rPr lang="en-US" sz="1332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{{title}}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55910" y="4942742"/>
            <a:ext cx="4987185" cy="235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3"/>
              </a:lnSpc>
              <a:spcBef>
                <a:spcPct val="0"/>
              </a:spcBef>
            </a:pPr>
            <a:r>
              <a:rPr lang="en-US" sz="1395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{{date}}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955910" y="5351838"/>
            <a:ext cx="4987185" cy="235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3"/>
              </a:lnSpc>
              <a:spcBef>
                <a:spcPct val="0"/>
              </a:spcBef>
            </a:pPr>
            <a:r>
              <a:rPr lang="en-US" sz="1395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{{venue}}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955910" y="5744102"/>
            <a:ext cx="4987185" cy="2353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3"/>
              </a:lnSpc>
              <a:spcBef>
                <a:spcPct val="0"/>
              </a:spcBef>
            </a:pPr>
            <a:r>
              <a:rPr lang="en-US" sz="1395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{{program_owner}}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724206"/>
              </p:ext>
            </p:extLst>
          </p:nvPr>
        </p:nvGraphicFramePr>
        <p:xfrm>
          <a:off x="687326" y="1652919"/>
          <a:ext cx="9306047" cy="4393328"/>
        </p:xfrm>
        <a:graphic>
          <a:graphicData uri="http://schemas.openxmlformats.org/drawingml/2006/table">
            <a:tbl>
              <a:tblPr/>
              <a:tblGrid>
                <a:gridCol w="5146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9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ts val="1707"/>
                        </a:lnSpc>
                        <a:defRPr/>
                      </a:pPr>
                      <a:r>
                        <a:rPr lang="en-US" sz="1962" b="1" spc="359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1517" marR="101517" marT="101517" marB="101517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07"/>
                        </a:lnSpc>
                        <a:defRPr/>
                      </a:pPr>
                      <a:r>
                        <a:rPr lang="en-US" sz="196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1517" marR="101517" marT="101517" marB="101517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PROGRAM MANAGEMENT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800" b="1" spc="-146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program_management</a:t>
                      </a: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ACCOMMODATION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{{accommodation}}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TRAINING VENUE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800" b="1" spc="-146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training_venue</a:t>
                      </a: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 MT Pro"/>
                          <a:sym typeface="Arial MT Pro"/>
                        </a:rPr>
                        <a:t>FOOD/MEALS/SNACKS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{{food}}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506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 MT Pro"/>
                          <a:sym typeface="Arial MT Pro"/>
                        </a:rPr>
                        <a:t>ADMINISTRATIVE ARRANGEMENTS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800" b="1" spc="-146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administrative_arrangements</a:t>
                      </a:r>
                      <a:r>
                        <a:rPr lang="en-US" sz="1800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29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RATING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400" b="1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overall_daily_average</a:t>
                      </a: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800" dirty="0"/>
                    </a:p>
                  </a:txBody>
                  <a:tcPr marL="154781" marR="154781" marT="154781" marB="154781" anchor="ctr">
                    <a:lnL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0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817119"/>
              </p:ext>
            </p:extLst>
          </p:nvPr>
        </p:nvGraphicFramePr>
        <p:xfrm>
          <a:off x="1001749" y="1365758"/>
          <a:ext cx="9063001" cy="5497338"/>
        </p:xfrm>
        <a:graphic>
          <a:graphicData uri="http://schemas.openxmlformats.org/drawingml/2006/table">
            <a:tbl>
              <a:tblPr/>
              <a:tblGrid>
                <a:gridCol w="46617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12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926">
                <a:tc>
                  <a:txBody>
                    <a:bodyPr/>
                    <a:lstStyle/>
                    <a:p>
                      <a:pPr algn="ctr">
                        <a:lnSpc>
                          <a:spcPts val="1700"/>
                        </a:lnSpc>
                        <a:defRPr/>
                      </a:pPr>
                      <a:r>
                        <a:rPr lang="en-US" sz="1955" b="1" spc="35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1112" marR="101112" marT="101112" marB="101112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00"/>
                        </a:lnSpc>
                        <a:defRPr/>
                      </a:pPr>
                      <a:r>
                        <a:rPr lang="en-US" sz="1955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1112" marR="101112" marT="101112" marB="101112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416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Program Management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{{program_management1}}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26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Attainment of Objectives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{{attainment_of_objectives}}</a:t>
                      </a:r>
                      <a:endParaRPr lang="en-US" sz="90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26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Delivery of Content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600" b="1" spc="-113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delivery_of_content</a:t>
                      </a: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26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Provision of Support Materials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600" b="1" spc="-113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provision_of_support_materials</a:t>
                      </a: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416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Program Management Team</a:t>
                      </a:r>
                      <a:endParaRPr lang="en-US" sz="90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1600" b="1" spc="-113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program_management_team</a:t>
                      </a: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416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Training Venue</a:t>
                      </a:r>
                      <a:endParaRPr lang="en-US" sz="90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{{training_venue1}}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416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160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Food/Meal</a:t>
                      </a:r>
                      <a:endParaRPr lang="en-US" sz="90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{{food1}}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5416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Accommodation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1600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{{accommodation1}}</a:t>
                      </a:r>
                      <a:endParaRPr lang="en-US" sz="900" dirty="0"/>
                    </a:p>
                  </a:txBody>
                  <a:tcPr marL="154781" marR="154781" marT="154781" marB="154781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521788"/>
                  </a:ext>
                </a:extLst>
              </a:tr>
              <a:tr h="404181">
                <a:tc>
                  <a:txBody>
                    <a:bodyPr/>
                    <a:lstStyle/>
                    <a:p>
                      <a:pPr algn="ctr">
                        <a:lnSpc>
                          <a:spcPts val="1314"/>
                        </a:lnSpc>
                        <a:defRPr/>
                      </a:pPr>
                      <a:r>
                        <a:rPr lang="en-US" sz="1510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RATING</a:t>
                      </a:r>
                      <a:endParaRPr lang="en-US" sz="1100"/>
                    </a:p>
                  </a:txBody>
                  <a:tcPr marL="101112" marR="101112" marT="101112" marB="101112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5"/>
                        </a:lnSpc>
                        <a:defRPr/>
                      </a:pPr>
                      <a:r>
                        <a:rPr lang="en-US" sz="2132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132" b="1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end_of_program_average</a:t>
                      </a:r>
                      <a:r>
                        <a:rPr lang="en-US" sz="2132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01112" marR="101112" marT="101112" marB="101112" anchor="ctr">
                    <a:lnL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2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982864" y="1593255"/>
          <a:ext cx="8839040" cy="4310913"/>
        </p:xfrm>
        <a:graphic>
          <a:graphicData uri="http://schemas.openxmlformats.org/drawingml/2006/table">
            <a:tbl>
              <a:tblPr/>
              <a:tblGrid>
                <a:gridCol w="52749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4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3528">
                <a:tc>
                  <a:txBody>
                    <a:bodyPr/>
                    <a:lstStyle/>
                    <a:p>
                      <a:pPr algn="ctr">
                        <a:lnSpc>
                          <a:spcPts val="1718"/>
                        </a:lnSpc>
                        <a:defRPr/>
                      </a:pPr>
                      <a:r>
                        <a:rPr lang="en-US" sz="1975" b="1" spc="36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18"/>
                        </a:lnSpc>
                        <a:defRPr/>
                      </a:pPr>
                      <a:r>
                        <a:rPr lang="en-US" sz="1975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7477">
                <a:tc>
                  <a:txBody>
                    <a:bodyPr/>
                    <a:lstStyle/>
                    <a:p>
                      <a:pPr algn="ctr">
                        <a:lnSpc>
                          <a:spcPts val="1572"/>
                        </a:lnSpc>
                        <a:defRPr/>
                      </a:pPr>
                      <a:r>
                        <a:rPr lang="en-US" sz="152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{{day1_lm1}}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7477"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{{day1_lm2}}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7477"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{{day1_lm3}}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7477"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{{day1_lm4}}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7477"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7"/>
                        </a:lnSpc>
                        <a:defRPr/>
                      </a:pPr>
                      <a:r>
                        <a:rPr lang="en-US" sz="1526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{{day1_lm5}}</a:t>
                      </a:r>
                      <a:endParaRPr lang="en-US" sz="1100"/>
                    </a:p>
                  </a:txBody>
                  <a:tcPr marL="102162" marR="102162" marT="102162" marB="102162" anchor="ctr">
                    <a:lnL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43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383428" y="575181"/>
            <a:ext cx="5865120" cy="5995456"/>
          </a:xfrm>
          <a:custGeom>
            <a:avLst/>
            <a:gdLst/>
            <a:ahLst/>
            <a:cxnLst/>
            <a:rect l="l" t="t" r="r" b="b"/>
            <a:pathLst>
              <a:path w="5865120" h="5995456">
                <a:moveTo>
                  <a:pt x="0" y="0"/>
                </a:moveTo>
                <a:lnTo>
                  <a:pt x="5865121" y="0"/>
                </a:lnTo>
                <a:lnTo>
                  <a:pt x="5865121" y="5995457"/>
                </a:lnTo>
                <a:lnTo>
                  <a:pt x="0" y="599545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646015" y="1792424"/>
          <a:ext cx="9287112" cy="3977239"/>
        </p:xfrm>
        <a:graphic>
          <a:graphicData uri="http://schemas.openxmlformats.org/drawingml/2006/table">
            <a:tbl>
              <a:tblPr/>
              <a:tblGrid>
                <a:gridCol w="58576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59579">
                <a:tc>
                  <a:txBody>
                    <a:bodyPr/>
                    <a:lstStyle/>
                    <a:p>
                      <a:pPr algn="ctr">
                        <a:lnSpc>
                          <a:spcPts val="1704"/>
                        </a:lnSpc>
                        <a:defRPr/>
                      </a:pPr>
                      <a:r>
                        <a:rPr lang="en-US" sz="1959" b="1" spc="358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04"/>
                        </a:lnSpc>
                        <a:defRPr/>
                      </a:pPr>
                      <a:r>
                        <a:rPr lang="en-US" sz="1959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3532">
                <a:tc>
                  <a:txBody>
                    <a:bodyPr/>
                    <a:lstStyle/>
                    <a:p>
                      <a:pPr algn="ctr">
                        <a:lnSpc>
                          <a:spcPts val="1559"/>
                        </a:lnSpc>
                        <a:defRPr/>
                      </a:pPr>
                      <a:r>
                        <a:rPr lang="en-US" sz="151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{{day2_lm1}}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3532"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{{day2_lm2}}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532"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{{day2_lm3}}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3532"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{{day2_lm4}}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3532"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7"/>
                        </a:lnSpc>
                        <a:defRPr/>
                      </a:pPr>
                      <a:r>
                        <a:rPr lang="en-US" sz="1514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{{day2_lm5}}</a:t>
                      </a:r>
                      <a:endParaRPr lang="en-US" sz="1100"/>
                    </a:p>
                  </a:txBody>
                  <a:tcPr marL="101335" marR="101335" marT="101335" marB="101335" anchor="ctr">
                    <a:lnL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67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29958" y="787964"/>
            <a:ext cx="5760248" cy="5888253"/>
          </a:xfrm>
          <a:custGeom>
            <a:avLst/>
            <a:gdLst/>
            <a:ahLst/>
            <a:cxnLst/>
            <a:rect l="l" t="t" r="r" b="b"/>
            <a:pathLst>
              <a:path w="5760248" h="5888253">
                <a:moveTo>
                  <a:pt x="0" y="0"/>
                </a:moveTo>
                <a:lnTo>
                  <a:pt x="5760248" y="0"/>
                </a:lnTo>
                <a:lnTo>
                  <a:pt x="5760248" y="5888253"/>
                </a:lnTo>
                <a:lnTo>
                  <a:pt x="0" y="58882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485343"/>
              </p:ext>
            </p:extLst>
          </p:nvPr>
        </p:nvGraphicFramePr>
        <p:xfrm>
          <a:off x="1056697" y="1908345"/>
          <a:ext cx="8733603" cy="4118696"/>
        </p:xfrm>
        <a:graphic>
          <a:graphicData uri="http://schemas.openxmlformats.org/drawingml/2006/table">
            <a:tbl>
              <a:tblPr/>
              <a:tblGrid>
                <a:gridCol w="5581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17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2252">
                <a:tc>
                  <a:txBody>
                    <a:bodyPr/>
                    <a:lstStyle/>
                    <a:p>
                      <a:pPr algn="ctr">
                        <a:lnSpc>
                          <a:spcPts val="1674"/>
                        </a:lnSpc>
                        <a:defRPr/>
                      </a:pPr>
                      <a:r>
                        <a:rPr lang="en-US" sz="1924" b="1" spc="352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4"/>
                        </a:lnSpc>
                        <a:defRPr/>
                      </a:pPr>
                      <a:r>
                        <a:rPr lang="en-US" sz="1924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480">
                <a:tc>
                  <a:txBody>
                    <a:bodyPr/>
                    <a:lstStyle/>
                    <a:p>
                      <a:pPr algn="ctr">
                        <a:lnSpc>
                          <a:spcPts val="1531"/>
                        </a:lnSpc>
                        <a:defRPr/>
                      </a:pPr>
                      <a:r>
                        <a:rPr lang="en-US" sz="148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 b="1" spc="-72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{{day3_lm1}}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741"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 b="1" spc="-72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{{day3_lm2}}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741"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 b="1" spc="-72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{{day3_lm3}}</a:t>
                      </a:r>
                      <a:endParaRPr lang="en-US" sz="1100" dirty="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2741"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 b="1" spc="-72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{{day3_lm4}}</a:t>
                      </a:r>
                      <a:endParaRPr lang="en-US" sz="1100" dirty="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2741"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93"/>
                        </a:lnSpc>
                        <a:defRPr/>
                      </a:pPr>
                      <a:r>
                        <a:rPr lang="en-US" sz="1486" b="1" spc="-72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{{day3_lm5}}</a:t>
                      </a:r>
                      <a:endParaRPr lang="en-US" sz="1100" dirty="0"/>
                    </a:p>
                  </a:txBody>
                  <a:tcPr marL="99523" marR="99523" marT="99523" marB="99523" anchor="ctr">
                    <a:lnL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90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954711" y="1975047"/>
          <a:ext cx="8799622" cy="3911740"/>
        </p:xfrm>
        <a:graphic>
          <a:graphicData uri="http://schemas.openxmlformats.org/drawingml/2006/table">
            <a:tbl>
              <a:tblPr/>
              <a:tblGrid>
                <a:gridCol w="5266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332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7070">
                <a:tc>
                  <a:txBody>
                    <a:bodyPr/>
                    <a:lstStyle/>
                    <a:p>
                      <a:pPr algn="ctr">
                        <a:lnSpc>
                          <a:spcPts val="1703"/>
                        </a:lnSpc>
                        <a:defRPr/>
                      </a:pPr>
                      <a:r>
                        <a:rPr lang="en-US" sz="1958" b="1" spc="358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03"/>
                        </a:lnSpc>
                        <a:defRPr/>
                      </a:pPr>
                      <a:r>
                        <a:rPr lang="en-US" sz="1958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2934">
                <a:tc>
                  <a:txBody>
                    <a:bodyPr/>
                    <a:lstStyle/>
                    <a:p>
                      <a:pPr algn="ctr">
                        <a:lnSpc>
                          <a:spcPts val="1558"/>
                        </a:lnSpc>
                        <a:defRPr/>
                      </a:pPr>
                      <a:r>
                        <a:rPr lang="en-US" sz="1513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{{day4_lm1}}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2934"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{{day4_lm2}}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2934"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{{day4_lm3}}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2934"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{{day4_lm4}}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2934"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16"/>
                        </a:lnSpc>
                        <a:defRPr/>
                      </a:pPr>
                      <a:r>
                        <a:rPr lang="en-US" sz="1513" b="1" spc="-7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{{day4_lm5}}</a:t>
                      </a:r>
                      <a:endParaRPr lang="en-US" sz="1100"/>
                    </a:p>
                  </a:txBody>
                  <a:tcPr marL="101276" marR="101276" marT="101276" marB="101276" anchor="ctr">
                    <a:lnL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5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866353" y="1910282"/>
          <a:ext cx="8948263" cy="3706515"/>
        </p:xfrm>
        <a:graphic>
          <a:graphicData uri="http://schemas.openxmlformats.org/drawingml/2006/table">
            <a:tbl>
              <a:tblPr/>
              <a:tblGrid>
                <a:gridCol w="54474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07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7875">
                <a:tc>
                  <a:txBody>
                    <a:bodyPr/>
                    <a:lstStyle/>
                    <a:p>
                      <a:pPr algn="ctr">
                        <a:lnSpc>
                          <a:spcPts val="1685"/>
                        </a:lnSpc>
                        <a:defRPr/>
                      </a:pPr>
                      <a:r>
                        <a:rPr lang="en-US" sz="1937" b="1" spc="35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5"/>
                        </a:lnSpc>
                        <a:defRPr/>
                      </a:pPr>
                      <a:r>
                        <a:rPr lang="en-US" sz="1937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9728">
                <a:tc>
                  <a:txBody>
                    <a:bodyPr/>
                    <a:lstStyle/>
                    <a:p>
                      <a:pPr algn="ctr">
                        <a:lnSpc>
                          <a:spcPts val="1541"/>
                        </a:lnSpc>
                        <a:defRPr/>
                      </a:pPr>
                      <a:r>
                        <a:rPr lang="en-US" sz="149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 b="1" spc="-7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{{day5_lm1}}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9728"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 b="1" spc="-7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{{day5_lm2}}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9728"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 b="1" spc="-7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{{day5_lm3}}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9728"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 b="1" spc="-7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{{day5_lm4}}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9728"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2"/>
                        </a:lnSpc>
                        <a:defRPr/>
                      </a:pPr>
                      <a:r>
                        <a:rPr lang="en-US" sz="1496" b="1" spc="-7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{{day5_lm5}}</a:t>
                      </a:r>
                      <a:endParaRPr lang="en-US" sz="1100"/>
                    </a:p>
                  </a:txBody>
                  <a:tcPr marL="100188" marR="100188" marT="100188" marB="100188" anchor="ctr">
                    <a:lnL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03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/>
          <p:cNvSpPr txBox="1"/>
          <p:nvPr/>
        </p:nvSpPr>
        <p:spPr>
          <a:xfrm>
            <a:off x="1068114" y="2330450"/>
            <a:ext cx="8544471" cy="2615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5"/>
              </a:lnSpc>
            </a:pPr>
            <a:r>
              <a:rPr lang="en-US" sz="1561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{{analysis}}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8"/>
          <p:cNvSpPr txBox="1"/>
          <p:nvPr/>
        </p:nvSpPr>
        <p:spPr>
          <a:xfrm>
            <a:off x="920750" y="2330450"/>
            <a:ext cx="9349430" cy="267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{{recommendation}}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132254" y="1819826"/>
          <a:ext cx="8800873" cy="3869924"/>
        </p:xfrm>
        <a:graphic>
          <a:graphicData uri="http://schemas.openxmlformats.org/drawingml/2006/table">
            <a:tbl>
              <a:tblPr/>
              <a:tblGrid>
                <a:gridCol w="4172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282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19586"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 b="1" spc="39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9586">
                <a:tc>
                  <a:txBody>
                    <a:bodyPr/>
                    <a:lstStyle/>
                    <a:p>
                      <a:pPr algn="ctr">
                        <a:lnSpc>
                          <a:spcPts val="2202"/>
                        </a:lnSpc>
                        <a:defRPr/>
                      </a:pPr>
                      <a:r>
                        <a:rPr lang="en-US" sz="2138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DAILY EVALUATION RESULTS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 b="1" spc="-10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{{daily_general_average}}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9586"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END-OF-PROGRAM RESULTS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 b="1" spc="-104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{{end_of_program_average}}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11166"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  <a:defRPr/>
                      </a:pPr>
                      <a:r>
                        <a:rPr lang="en-US" sz="2138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RATING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68"/>
                        </a:lnSpc>
                        <a:defRPr/>
                      </a:pPr>
                      <a:r>
                        <a:rPr lang="en-US" sz="3297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{{overall_results}}</a:t>
                      </a:r>
                      <a:endParaRPr lang="en-US" sz="1100"/>
                    </a:p>
                  </a:txBody>
                  <a:tcPr marL="101396" marR="101396" marT="101396" marB="101396" anchor="ctr">
                    <a:lnL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279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55362" y="1843372"/>
            <a:ext cx="6840800" cy="1145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426"/>
              </a:lnSpc>
            </a:pPr>
            <a:r>
              <a:rPr lang="en-US" sz="6733" dirty="0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{{</a:t>
            </a:r>
            <a:r>
              <a:rPr lang="en-US" sz="6733" dirty="0" err="1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avearge_score</a:t>
            </a:r>
            <a:r>
              <a:rPr lang="en-US" sz="6733" dirty="0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364</Words>
  <Application>Microsoft Macintosh PowerPoint</Application>
  <PresentationFormat>Custom</PresentationFormat>
  <Paragraphs>109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Anton</vt:lpstr>
      <vt:lpstr>Arial</vt:lpstr>
      <vt:lpstr>Canva Sans Bold</vt:lpstr>
      <vt:lpstr>Arial MT Pro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desa_template.pptx</dc:title>
  <cp:lastModifiedBy>Samson Capinig</cp:lastModifiedBy>
  <cp:revision>5</cp:revision>
  <dcterms:created xsi:type="dcterms:W3CDTF">2006-08-16T00:00:00Z</dcterms:created>
  <dcterms:modified xsi:type="dcterms:W3CDTF">2026-06-09T07:54:15Z</dcterms:modified>
  <dc:identifier>DAHLAWPriWU</dc:identifier>
</cp:coreProperties>
</file>