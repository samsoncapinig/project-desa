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Poppins" charset="1" panose="00000500000000000000"/>
      <p:regular r:id="rId19"/>
    </p:embeddedFont>
    <p:embeddedFont>
      <p:font typeface="Poppins Italics" charset="1" panose="00000500000000000000"/>
      <p:regular r:id="rId20"/>
    </p:embeddedFont>
    <p:embeddedFont>
      <p:font typeface="Obra Letra" charset="1" panose="00000000000000000000"/>
      <p:regular r:id="rId21"/>
    </p:embeddedFont>
    <p:embeddedFont>
      <p:font typeface="Blaka" charset="1" panose="00000000000000000000"/>
      <p:regular r:id="rId22"/>
    </p:embeddedFont>
    <p:embeddedFont>
      <p:font typeface="Poppins Bold" charset="1" panose="00000800000000000000"/>
      <p:regular r:id="rId23"/>
    </p:embeddedFont>
    <p:embeddedFont>
      <p:font typeface="Arial MT Pro" charset="1" panose="020B0502020202020204"/>
      <p:regular r:id="rId24"/>
    </p:embeddedFont>
    <p:embeddedFont>
      <p:font typeface="Arial MT Pro Bold" charset="1" panose="020B0802020202020204"/>
      <p:regular r:id="rId25"/>
    </p:embeddedFont>
    <p:embeddedFont>
      <p:font typeface="Anton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37155" y="5059607"/>
            <a:ext cx="8300211" cy="358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  <a:spcBef>
                <a:spcPct val="0"/>
              </a:spcBef>
            </a:pPr>
            <a:r>
              <a:rPr lang="en-US" b="true" sz="2161">
                <a:solidFill>
                  <a:srgbClr val="1E3CC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405466" y="290166"/>
            <a:ext cx="1477068" cy="1477068"/>
          </a:xfrm>
          <a:custGeom>
            <a:avLst/>
            <a:gdLst/>
            <a:ahLst/>
            <a:cxnLst/>
            <a:rect r="r" b="b" t="t" l="l"/>
            <a:pathLst>
              <a:path h="1477068" w="1477068">
                <a:moveTo>
                  <a:pt x="0" y="0"/>
                </a:moveTo>
                <a:lnTo>
                  <a:pt x="1477068" y="0"/>
                </a:lnTo>
                <a:lnTo>
                  <a:pt x="1477068" y="1477068"/>
                </a:lnTo>
                <a:lnTo>
                  <a:pt x="0" y="147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00770" y="7249874"/>
            <a:ext cx="2553994" cy="2610749"/>
          </a:xfrm>
          <a:custGeom>
            <a:avLst/>
            <a:gdLst/>
            <a:ahLst/>
            <a:cxnLst/>
            <a:rect r="r" b="b" t="t" l="l"/>
            <a:pathLst>
              <a:path h="2610749" w="2553994">
                <a:moveTo>
                  <a:pt x="0" y="0"/>
                </a:moveTo>
                <a:lnTo>
                  <a:pt x="2553993" y="0"/>
                </a:lnTo>
                <a:lnTo>
                  <a:pt x="2553993" y="2610749"/>
                </a:lnTo>
                <a:lnTo>
                  <a:pt x="0" y="2610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42314" y="5429160"/>
            <a:ext cx="1291311" cy="1473666"/>
          </a:xfrm>
          <a:custGeom>
            <a:avLst/>
            <a:gdLst/>
            <a:ahLst/>
            <a:cxnLst/>
            <a:rect r="r" b="b" t="t" l="l"/>
            <a:pathLst>
              <a:path h="1473666" w="1291311">
                <a:moveTo>
                  <a:pt x="0" y="0"/>
                </a:moveTo>
                <a:lnTo>
                  <a:pt x="1291311" y="0"/>
                </a:lnTo>
                <a:lnTo>
                  <a:pt x="1291311" y="1473666"/>
                </a:lnTo>
                <a:lnTo>
                  <a:pt x="0" y="1473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948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6499" y="8832514"/>
            <a:ext cx="10457631" cy="784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8"/>
              </a:lnSpc>
            </a:pPr>
            <a:r>
              <a:rPr lang="en-US" sz="22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SCHOOL GOVERNANCE AND OPERATIONS DIVISION (SGOD) </a:t>
            </a:r>
          </a:p>
          <a:p>
            <a:pPr algn="ctr">
              <a:lnSpc>
                <a:spcPts val="3118"/>
              </a:lnSpc>
            </a:pPr>
            <a:r>
              <a:rPr lang="en-US" sz="2227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School Management, Monitoring and Evaluation (SMME) Section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16310" y="3109317"/>
            <a:ext cx="7512841" cy="162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1"/>
              </a:lnSpc>
            </a:pPr>
            <a:r>
              <a:rPr lang="en-US" sz="9587">
                <a:solidFill>
                  <a:srgbClr val="000000"/>
                </a:solidFill>
                <a:latin typeface="Obra Letra"/>
                <a:ea typeface="Obra Letra"/>
                <a:cs typeface="Obra Letra"/>
                <a:sym typeface="Obra Letra"/>
              </a:rPr>
              <a:t>QAME RESULT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61416" y="1846394"/>
            <a:ext cx="4365168" cy="123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6"/>
              </a:lnSpc>
            </a:pPr>
            <a:r>
              <a:rPr lang="en-US" sz="2052">
                <a:solidFill>
                  <a:srgbClr val="000000"/>
                </a:solidFill>
                <a:latin typeface="Obra Letra"/>
                <a:ea typeface="Obra Letra"/>
                <a:cs typeface="Obra Letra"/>
                <a:sym typeface="Obra Letra"/>
              </a:rPr>
              <a:t>Republic of the Philippines</a:t>
            </a:r>
          </a:p>
          <a:p>
            <a:pPr algn="ctr">
              <a:lnSpc>
                <a:spcPts val="3502"/>
              </a:lnSpc>
            </a:pPr>
            <a:r>
              <a:rPr lang="en-US" sz="3891">
                <a:solidFill>
                  <a:srgbClr val="000000"/>
                </a:solidFill>
                <a:latin typeface="Blaka"/>
                <a:ea typeface="Blaka"/>
                <a:cs typeface="Blaka"/>
                <a:sym typeface="Blaka"/>
              </a:rPr>
              <a:t>Department of Education</a:t>
            </a:r>
          </a:p>
          <a:p>
            <a:pPr algn="ctr">
              <a:lnSpc>
                <a:spcPts val="2108"/>
              </a:lnSpc>
            </a:pPr>
            <a:r>
              <a:rPr lang="en-US" sz="2342">
                <a:solidFill>
                  <a:srgbClr val="000000"/>
                </a:solidFill>
                <a:latin typeface="Obra Letra"/>
                <a:ea typeface="Obra Letra"/>
                <a:cs typeface="Obra Letra"/>
                <a:sym typeface="Obra Letra"/>
              </a:rPr>
              <a:t>Region V</a:t>
            </a:r>
          </a:p>
          <a:p>
            <a:pPr algn="ctr">
              <a:lnSpc>
                <a:spcPts val="2108"/>
              </a:lnSpc>
            </a:pPr>
            <a:r>
              <a:rPr lang="en-US" sz="2342">
                <a:solidFill>
                  <a:srgbClr val="000000"/>
                </a:solidFill>
                <a:latin typeface="Obra Letra"/>
                <a:ea typeface="Obra Letra"/>
                <a:cs typeface="Obra Letra"/>
                <a:sym typeface="Obra Letra"/>
              </a:rPr>
              <a:t>Schools Division of Masbate City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8841" y="5025150"/>
            <a:ext cx="2635316" cy="39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Title of Training: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542314" y="3858595"/>
            <a:ext cx="1433973" cy="1399302"/>
          </a:xfrm>
          <a:custGeom>
            <a:avLst/>
            <a:gdLst/>
            <a:ahLst/>
            <a:cxnLst/>
            <a:rect r="r" b="b" t="t" l="l"/>
            <a:pathLst>
              <a:path h="1399302" w="1433973">
                <a:moveTo>
                  <a:pt x="0" y="0"/>
                </a:moveTo>
                <a:lnTo>
                  <a:pt x="1433972" y="0"/>
                </a:lnTo>
                <a:lnTo>
                  <a:pt x="1433972" y="1399302"/>
                </a:lnTo>
                <a:lnTo>
                  <a:pt x="0" y="1399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85" r="-92531" b="-118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20788" y="5924541"/>
            <a:ext cx="2635316" cy="39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Date Conducted: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8446" y="6670079"/>
            <a:ext cx="1317658" cy="39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Venue: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37155" y="5859076"/>
            <a:ext cx="8090758" cy="37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b="true" sz="2263">
                <a:solidFill>
                  <a:srgbClr val="1E3CC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{{date}}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37155" y="6695267"/>
            <a:ext cx="8090758" cy="37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b="true" sz="2263">
                <a:solidFill>
                  <a:srgbClr val="1E3CC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{{venue}}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20788" y="7280460"/>
            <a:ext cx="2635316" cy="39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Owner: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37155" y="7309035"/>
            <a:ext cx="8090758" cy="37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b="true" sz="2263">
                <a:solidFill>
                  <a:srgbClr val="1E3CC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{{program_owner}}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89195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027638" y="1682608"/>
          <a:ext cx="14188827" cy="6698456"/>
        </p:xfrm>
        <a:graphic>
          <a:graphicData uri="http://schemas.openxmlformats.org/drawingml/2006/table">
            <a:tbl>
              <a:tblPr/>
              <a:tblGrid>
                <a:gridCol w="7846169"/>
                <a:gridCol w="6342657"/>
              </a:tblGrid>
              <a:tr h="9377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377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2"/>
                        </a:lnSpc>
                        <a:defRPr/>
                      </a:pPr>
                      <a:r>
                        <a:rPr lang="en-US" sz="299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ADMINISTRATIVE ARRANGEMENTS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-146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{{administrative_arrangements}}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7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FOOD/MEALS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-146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{{food}}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7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PROGRAM MANAGEMENT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-146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{{program_management}}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7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TRAINING VENUE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-146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{{training_venue}}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7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2"/>
                        </a:lnSpc>
                        <a:defRPr/>
                      </a:pPr>
                      <a:r>
                        <a:rPr lang="en-US" sz="299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AVERAGE RATING OF SESSIONS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-146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{{average_rating_of_sessions}}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OVERALL 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95"/>
                        </a:lnSpc>
                        <a:defRPr/>
                      </a:pPr>
                      <a:r>
                        <a:rPr lang="en-US" sz="367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{{overall_daily_average}}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034573" y="9701611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42600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75585" y="857250"/>
            <a:ext cx="12580666" cy="8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OVERALL DAILY EVALUATION RESULTS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06858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17758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669461" y="1852620"/>
          <a:ext cx="15006838" cy="7587241"/>
        </p:xfrm>
        <a:graphic>
          <a:graphicData uri="http://schemas.openxmlformats.org/drawingml/2006/table">
            <a:tbl>
              <a:tblPr/>
              <a:tblGrid>
                <a:gridCol w="8042025"/>
                <a:gridCol w="6964813"/>
              </a:tblGrid>
              <a:tr h="9372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8208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Program Management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{{program_management1}}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8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Attainment of Objectives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{{attainment_of_objectives}}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8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Delivery of Content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{{de;ivery_of_content}}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8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Provision of Support Materials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{{provision_of_support_materials}}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8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Program Management Team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{{program_management_team1}}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8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Training Venue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{{training_venue1}}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8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Food/Meal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{{food1}}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50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OVERALL 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{{end_of_program_average}}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106011" y="9653986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09" y="0"/>
                </a:lnTo>
                <a:lnTo>
                  <a:pt x="4077909" y="561576"/>
                </a:lnTo>
                <a:lnTo>
                  <a:pt x="0" y="561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71162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02258" y="857250"/>
            <a:ext cx="12982556" cy="8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END-OF-PROGRAM EVALUATION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35420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1570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8207" y="864425"/>
            <a:ext cx="6512670" cy="116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82198" y="9630173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4975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59233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788596" y="2149068"/>
          <a:ext cx="14620031" cy="6531298"/>
        </p:xfrm>
        <a:graphic>
          <a:graphicData uri="http://schemas.openxmlformats.org/drawingml/2006/table">
            <a:tbl>
              <a:tblPr/>
              <a:tblGrid>
                <a:gridCol w="9221203"/>
                <a:gridCol w="5398828"/>
              </a:tblGrid>
              <a:tr h="124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0567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7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7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{{day1_lm3}}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7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{{day1_lm4}}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7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{{day1_lm5}}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74883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01519" y="864425"/>
            <a:ext cx="6512670" cy="116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2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48886" y="9701611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09" y="0"/>
                </a:lnTo>
                <a:lnTo>
                  <a:pt x="4077909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28287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92545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056573" y="2149068"/>
          <a:ext cx="14185366" cy="6074937"/>
        </p:xfrm>
        <a:graphic>
          <a:graphicData uri="http://schemas.openxmlformats.org/drawingml/2006/table">
            <a:tbl>
              <a:tblPr/>
              <a:tblGrid>
                <a:gridCol w="8947050"/>
                <a:gridCol w="5238316"/>
              </a:tblGrid>
              <a:tr h="1160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82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{{day2_lm3}}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{{day2_lm4}}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{{day2_lm5}}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1029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0" y="0"/>
                </a:lnTo>
                <a:lnTo>
                  <a:pt x="8958530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87665" y="864425"/>
            <a:ext cx="6512670" cy="116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3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87531" y="9725423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14433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78691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880791" y="2149068"/>
          <a:ext cx="14453973" cy="6405534"/>
        </p:xfrm>
        <a:graphic>
          <a:graphicData uri="http://schemas.openxmlformats.org/drawingml/2006/table">
            <a:tbl>
              <a:tblPr/>
              <a:tblGrid>
                <a:gridCol w="9116467"/>
                <a:gridCol w="5337506"/>
              </a:tblGrid>
              <a:tr h="12165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0660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1570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8207" y="864425"/>
            <a:ext cx="6512670" cy="116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82198" y="9558736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6"/>
                </a:lnTo>
                <a:lnTo>
                  <a:pt x="0" y="561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4975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59233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788596" y="2149068"/>
          <a:ext cx="14620031" cy="5978344"/>
        </p:xfrm>
        <a:graphic>
          <a:graphicData uri="http://schemas.openxmlformats.org/drawingml/2006/table">
            <a:tbl>
              <a:tblPr/>
              <a:tblGrid>
                <a:gridCol w="9221203"/>
                <a:gridCol w="5398828"/>
              </a:tblGrid>
              <a:tr h="11417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673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3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3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{{day4_lm3}}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3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{{day4_lm4}}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3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{{day4_lm5}}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60633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7269" y="864425"/>
            <a:ext cx="6512670" cy="116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5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63136" y="9677798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09" y="0"/>
                </a:lnTo>
                <a:lnTo>
                  <a:pt x="4077909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14037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78295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883510" y="2149068"/>
          <a:ext cx="14644179" cy="5726257"/>
        </p:xfrm>
        <a:graphic>
          <a:graphicData uri="http://schemas.openxmlformats.org/drawingml/2006/table">
            <a:tbl>
              <a:tblPr/>
              <a:tblGrid>
                <a:gridCol w="9236434"/>
                <a:gridCol w="5407745"/>
              </a:tblGrid>
              <a:tr h="10936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b="true" sz="2992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26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{{day5_lm3}}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{{day5_lm4}}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b="true" sz="2312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{{day5_lm5}}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1029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0" y="0"/>
                </a:lnTo>
                <a:lnTo>
                  <a:pt x="8958530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55166" y="857250"/>
            <a:ext cx="10336206" cy="8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OVERALL OBSERVATIONS/ 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79219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87531" y="9725423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14433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13760" y="2088311"/>
            <a:ext cx="2247269" cy="73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22383" y="3285144"/>
            <a:ext cx="13400628" cy="40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44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{{analysis}}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1029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0" y="0"/>
                </a:lnTo>
                <a:lnTo>
                  <a:pt x="8958530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55166" y="857250"/>
            <a:ext cx="10336206" cy="8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OVERALL OBSERVATIONS/ 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79219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87531" y="9725423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14433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07898" y="2220123"/>
            <a:ext cx="2247269" cy="73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87718" y="3540781"/>
            <a:ext cx="14304625" cy="40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44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{{recommendation}}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13008" y="564695"/>
            <a:ext cx="8958531" cy="9157609"/>
          </a:xfrm>
          <a:custGeom>
            <a:avLst/>
            <a:gdLst/>
            <a:ahLst/>
            <a:cxnLst/>
            <a:rect r="r" b="b" t="t" l="l"/>
            <a:pathLst>
              <a:path h="9157609" w="8958531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987906" y="1872233"/>
          <a:ext cx="14492158" cy="5907445"/>
        </p:xfrm>
        <a:graphic>
          <a:graphicData uri="http://schemas.openxmlformats.org/drawingml/2006/table">
            <a:tbl>
              <a:tblPr/>
              <a:tblGrid>
                <a:gridCol w="7428341"/>
                <a:gridCol w="7063818"/>
              </a:tblGrid>
              <a:tr h="14037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b="true" sz="3264" spc="59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4037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2"/>
                        </a:lnSpc>
                        <a:defRPr/>
                      </a:pPr>
                      <a:r>
                        <a:rPr lang="en-US" sz="3264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DAILY EVALUATION RESULTS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b="true" sz="3264" spc="-15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{{daily_general_average}}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37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END-OF-PROGRAM RESULTS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b="true" sz="3264" spc="-15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{{end_of_program_average}}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61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OVERALL 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78"/>
                        </a:lnSpc>
                        <a:defRPr/>
                      </a:pPr>
                      <a:r>
                        <a:rPr lang="en-US" sz="5033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{{overall_results}}</a:t>
                      </a:r>
                      <a:endParaRPr lang="en-US" sz="1100"/>
                    </a:p>
                  </a:txBody>
                  <a:tcPr marL="154781" marR="154781" marT="154781" marB="154781" anchor="ctr">
                    <a:lnL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095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010761" y="9653986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09" y="0"/>
                </a:lnTo>
                <a:lnTo>
                  <a:pt x="4077909" y="561576"/>
                </a:lnTo>
                <a:lnTo>
                  <a:pt x="0" y="561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66412" y="0"/>
            <a:ext cx="4077910" cy="561577"/>
          </a:xfrm>
          <a:custGeom>
            <a:avLst/>
            <a:gdLst/>
            <a:ahLst/>
            <a:cxnLst/>
            <a:rect r="r" b="b" t="t" l="l"/>
            <a:pathLst>
              <a:path h="561577" w="4077910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17420" y="857250"/>
            <a:ext cx="6512670" cy="8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OVERALL RATING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30670" y="9574365"/>
            <a:ext cx="1749394" cy="2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2516" y="2257255"/>
            <a:ext cx="11164968" cy="186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85"/>
              </a:lnSpc>
            </a:pPr>
            <a:r>
              <a:rPr lang="en-US" sz="10989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{{avearge_score}}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90738" y="4801678"/>
            <a:ext cx="7284805" cy="8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9"/>
              </a:lnSpc>
            </a:pPr>
            <a:r>
              <a:rPr lang="en-US" sz="465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OUT OF 4 AS THE HIGHEST SCORE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31111" y="6120322"/>
            <a:ext cx="12719494" cy="233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31"/>
              </a:lnSpc>
            </a:pPr>
            <a:r>
              <a:rPr lang="en-US" sz="136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“OUTSTANDING”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DAHLAWPriWU</dc:identifier>
  <dcterms:modified xsi:type="dcterms:W3CDTF">2011-08-01T06:04:30Z</dcterms:modified>
  <cp:revision>1</cp:revision>
  <dc:title>desa_template.pptx</dc:title>
</cp:coreProperties>
</file>